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Spectrum</a:t>
            </a:r>
            <a:r>
              <a:rPr lang="en-US" baseline="0"/>
              <a:t> (initial)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Sheet1!$A$1:$A$11</c:f>
              <c:numCache>
                <c:formatCode>General</c:formatCode>
                <c:ptCount val="11"/>
                <c:pt idx="0">
                  <c:v>0.5174616774438362</c:v>
                </c:pt>
                <c:pt idx="1">
                  <c:v>0.12782498629200634</c:v>
                </c:pt>
                <c:pt idx="2">
                  <c:v>9.698505856761519E-2</c:v>
                </c:pt>
                <c:pt idx="3">
                  <c:v>0.42663638046384744</c:v>
                </c:pt>
                <c:pt idx="4">
                  <c:v>0.32785550613428049</c:v>
                </c:pt>
                <c:pt idx="5">
                  <c:v>0.23012872916918936</c:v>
                </c:pt>
                <c:pt idx="6">
                  <c:v>0.87289252839408016</c:v>
                </c:pt>
                <c:pt idx="7">
                  <c:v>0.68407320943350947</c:v>
                </c:pt>
                <c:pt idx="8">
                  <c:v>0.91474554012812104</c:v>
                </c:pt>
                <c:pt idx="9">
                  <c:v>0.51504488854258734</c:v>
                </c:pt>
                <c:pt idx="10">
                  <c:v>0.42465108282214081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53-8E4B-9301-B10AB660F4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4478015"/>
        <c:axId val="1944483391"/>
      </c:barChart>
      <c:catAx>
        <c:axId val="19444780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483391"/>
        <c:crosses val="autoZero"/>
        <c:auto val="1"/>
        <c:lblAlgn val="ctr"/>
        <c:lblOffset val="100"/>
        <c:noMultiLvlLbl val="0"/>
      </c:catAx>
      <c:valAx>
        <c:axId val="1944483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478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Spectrum</a:t>
            </a:r>
            <a:r>
              <a:rPr lang="en-US" baseline="0"/>
              <a:t> (final)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Sheet1!$B$1:$B$11</c:f>
              <c:numCache>
                <c:formatCode>General</c:formatCode>
                <c:ptCount val="11"/>
                <c:pt idx="0">
                  <c:v>0.86598584674004953</c:v>
                </c:pt>
                <c:pt idx="1">
                  <c:v>0.6997241301515138</c:v>
                </c:pt>
                <c:pt idx="2">
                  <c:v>0.68612454183708027</c:v>
                </c:pt>
                <c:pt idx="3">
                  <c:v>0.14335179469688863</c:v>
                </c:pt>
                <c:pt idx="4">
                  <c:v>0.84197100325117458</c:v>
                </c:pt>
                <c:pt idx="5">
                  <c:v>0.38758968730959686</c:v>
                </c:pt>
                <c:pt idx="6">
                  <c:v>0.76715551707514884</c:v>
                </c:pt>
                <c:pt idx="7">
                  <c:v>0.82526014125530212</c:v>
                </c:pt>
                <c:pt idx="8">
                  <c:v>0.20222431239419436</c:v>
                </c:pt>
                <c:pt idx="9">
                  <c:v>0.80256734095770355</c:v>
                </c:pt>
                <c:pt idx="10">
                  <c:v>0.13360494153719882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1C-0245-9879-6FA35551A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2300735"/>
        <c:axId val="1912293567"/>
      </c:barChart>
      <c:catAx>
        <c:axId val="191230073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2293567"/>
        <c:crosses val="autoZero"/>
        <c:auto val="1"/>
        <c:lblAlgn val="ctr"/>
        <c:lblOffset val="100"/>
        <c:noMultiLvlLbl val="0"/>
      </c:catAx>
      <c:valAx>
        <c:axId val="1912293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2300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7BFD-EC46-C8D2-02CE-A9726BEA4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D28E0-0BA7-2492-B17E-E02EA61DA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AE272-7F43-57D3-7906-F1268B67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81918-FC74-D41E-E038-0BB8FAC7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CE79-E8C9-1850-72A4-5B97C25E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66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C755-F4E2-CFC3-0EF4-9F42187B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616E2-229F-4E45-E087-C034D2771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C0361-55AA-4624-5FD4-EAAA4BBE1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78FAF-1A71-8955-7E59-974A2B24E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1B94A-1955-4350-EBBE-50BE6E9A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0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15A9-1774-AA24-A119-DB2A1110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6A142-F895-2B81-4F15-AA87CC94E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5B983-DB70-02EB-8C3B-4270B55A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D549F-9FF8-39A7-4A2D-88E143A51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1121F-46DD-4522-4C93-FFA35B12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7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42EA-B3FB-4312-9DC4-CD56B6B0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5369A-109A-B7A6-3962-B8E52B290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DD922-B098-D56A-61E9-4C3EFC8B1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92F91-1211-EFA0-3AC5-D3164B05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E0E1D-8F5D-9F47-773F-C531CAFE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B216-EAAA-AC65-5019-EE57E832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4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BDCD-301E-C795-4E30-9C336F72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2485-F910-9FDD-00EA-C8E2FBF6E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3F3CB-2DA9-917C-46C0-02D7C6F54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ED5DB-E684-7FDE-D15B-CF0FD16B6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ECF85-B3D0-FDC1-3B22-472FED5A6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5A6CB-CCA3-6162-DAAF-AAF4059B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81238-A79D-8E4C-849D-B940B8A5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6FC70-E6A7-EE93-7A8C-54711F316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6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88A2-7FBC-8FF4-4457-112B6DDF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A44DB4-31FE-1151-E68D-4E836468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E90E4-5DB6-E891-FCB8-0C478CC6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E5A34-764E-6B38-430D-50EB97B4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8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94560-4BB3-927E-A2D6-C1ECE396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D341E-9845-F28B-8193-4AC62DA1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24442-1D38-DF81-6430-5FD0011E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12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1022-C7DA-5D61-2516-90E9A94D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C2628-63DE-BD48-D6E1-AA6845B6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48AB1-CBF4-8E8B-1EFB-3C5196696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C2CE5-4B05-CF8A-8002-D93F6FBB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FFB15-A20F-4AB7-FB21-77BAED5C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1361B-81C6-8F32-08B8-738E0F4C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0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64F7-EDAC-B063-3B25-7A350686B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BA2B8-2310-DF9F-947C-D3EAC7441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30601-AA89-4CC4-7908-71A1A24F8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B727A-57F4-4258-5CE6-31379883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5E34E-254C-06CC-3102-7C6ECE21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964D0-519D-3BBF-FC1F-D2836C37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0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8491-7224-26D1-01DD-58C97405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584F7-7017-69BD-3730-7CCF3155C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4B52A-1DA2-80A9-49FB-1640446A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B509F-E043-74C3-3039-070226E22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15C5-C97E-03B1-48FF-605E1633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2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F66793-7F25-9762-6E2D-43D2DCACC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B39E1-B721-E91F-4FA3-7911F2801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4F3BE-E483-806E-6FE3-D8DB967A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9AC73-35F6-CC53-A43E-B97922DF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267D5-0EA3-2B52-DD0E-0CA6E2C0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86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3A68E0-C304-031B-FC17-EAB09A85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EA43F-1021-CC8C-1A9A-5A64DF61E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FD632-6903-CA46-8A98-6AAB6FDB0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7BE78-6069-7445-91C0-503FD28B9586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2684A-FD31-9A8A-4E31-03F5319FA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C5924-1BA5-2DB4-D7ED-2A9371CD5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779A7-DA52-7B4A-B24E-FD464345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5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84E3-84D6-03E4-8CA2-3D25826D32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Electrogravitics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281B8-38B6-4B93-11C3-583172787D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Gravitron</a:t>
            </a:r>
            <a:r>
              <a:rPr lang="en-US" dirty="0"/>
              <a:t> Experiments</a:t>
            </a:r>
          </a:p>
        </p:txBody>
      </p:sp>
    </p:spTree>
    <p:extLst>
      <p:ext uri="{BB962C8B-B14F-4D97-AF65-F5344CB8AC3E}">
        <p14:creationId xmlns:p14="http://schemas.microsoft.com/office/powerpoint/2010/main" val="1468553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4F3D-7137-B099-3C7A-90190EB64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61C73-D7E8-1383-157E-E5F4A9F87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89343" cy="4351338"/>
          </a:xfrm>
        </p:spPr>
        <p:txBody>
          <a:bodyPr/>
          <a:lstStyle/>
          <a:p>
            <a:r>
              <a:rPr lang="en-US" dirty="0"/>
              <a:t>The Computational Theory of Gravity (CTG) predicts field coupling</a:t>
            </a:r>
          </a:p>
          <a:p>
            <a:r>
              <a:rPr lang="en-US" dirty="0"/>
              <a:t>Most notable between the electric and gravitational forces</a:t>
            </a:r>
          </a:p>
          <a:p>
            <a:r>
              <a:rPr lang="en-US" dirty="0"/>
              <a:t>Other forces (including Higgs) experience minimal </a:t>
            </a:r>
            <a:r>
              <a:rPr lang="en-US" dirty="0" err="1"/>
              <a:t>gravitic</a:t>
            </a:r>
            <a:r>
              <a:rPr lang="en-US" dirty="0"/>
              <a:t> mixing</a:t>
            </a:r>
          </a:p>
          <a:p>
            <a:pPr lvl="1"/>
            <a:r>
              <a:rPr lang="en-US" dirty="0"/>
              <a:t>Interaction with the field </a:t>
            </a:r>
            <a:r>
              <a:rPr lang="en-US" dirty="0" err="1"/>
              <a:t>Lagrangians</a:t>
            </a:r>
            <a:r>
              <a:rPr lang="en-US" dirty="0"/>
              <a:t> is via a scalar potential</a:t>
            </a:r>
          </a:p>
          <a:p>
            <a:pPr lvl="1"/>
            <a:r>
              <a:rPr lang="en-US" dirty="0"/>
              <a:t>Electric and gravitational forces have similar mathematical structures</a:t>
            </a:r>
          </a:p>
          <a:p>
            <a:pPr lvl="1"/>
            <a:r>
              <a:rPr lang="en-US" dirty="0"/>
              <a:t>Other forces differ substantially</a:t>
            </a:r>
          </a:p>
          <a:p>
            <a:r>
              <a:rPr lang="en-US" dirty="0"/>
              <a:t>The relevant physics is omitted:</a:t>
            </a:r>
          </a:p>
          <a:p>
            <a:pPr lvl="1"/>
            <a:r>
              <a:rPr lang="en-US" dirty="0"/>
              <a:t>Causal graph holonomies -&gt; Quantum Field Theory -&gt; Classical </a:t>
            </a:r>
            <a:r>
              <a:rPr lang="en-US" dirty="0" err="1"/>
              <a:t>Eqs</a:t>
            </a:r>
            <a:r>
              <a:rPr lang="en-US" dirty="0"/>
              <a:t> of motion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77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DC7C-CE4C-A429-70E7-B265D66B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8CBC1-7EEB-3694-F588-D49422EDA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Experiments should focus on the </a:t>
            </a:r>
            <a:r>
              <a:rPr lang="en-US" dirty="0" err="1"/>
              <a:t>electrogravitic</a:t>
            </a:r>
            <a:r>
              <a:rPr lang="en-US" dirty="0"/>
              <a:t> coupling</a:t>
            </a:r>
          </a:p>
          <a:p>
            <a:r>
              <a:rPr lang="en-US" dirty="0"/>
              <a:t>Evident in the </a:t>
            </a:r>
            <a:r>
              <a:rPr lang="en-US" dirty="0" err="1"/>
              <a:t>Electrogravitic</a:t>
            </a:r>
            <a:r>
              <a:rPr lang="en-US" dirty="0"/>
              <a:t> Maxwell Equations (EME)</a:t>
            </a:r>
          </a:p>
          <a:p>
            <a:r>
              <a:rPr lang="en-US" dirty="0"/>
              <a:t>Red terms are new additions of CTG to the original Maxwell </a:t>
            </a:r>
            <a:r>
              <a:rPr lang="en-US" dirty="0" err="1"/>
              <a:t>Eqs</a:t>
            </a:r>
            <a:r>
              <a:rPr lang="en-US" dirty="0"/>
              <a:t> (ME)</a:t>
            </a:r>
          </a:p>
          <a:p>
            <a:r>
              <a:rPr lang="en-US" dirty="0"/>
              <a:t>The structure of the equations gives us ideas for experiments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6367B-0A28-FD94-878B-752CD5370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497053"/>
            <a:ext cx="7772400" cy="14150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0D1CFE-1097-A643-648C-17D5A4592A29}"/>
              </a:ext>
            </a:extLst>
          </p:cNvPr>
          <p:cNvSpPr/>
          <p:nvPr/>
        </p:nvSpPr>
        <p:spPr>
          <a:xfrm>
            <a:off x="4622929" y="4615542"/>
            <a:ext cx="805413" cy="304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ED71D-B8D3-8B63-C5DD-5860A9EC324B}"/>
              </a:ext>
            </a:extLst>
          </p:cNvPr>
          <p:cNvSpPr/>
          <p:nvPr/>
        </p:nvSpPr>
        <p:spPr>
          <a:xfrm>
            <a:off x="2964673" y="5543806"/>
            <a:ext cx="805413" cy="304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F33DBA-5905-70B5-B6BE-AF79A4FCB076}"/>
              </a:ext>
            </a:extLst>
          </p:cNvPr>
          <p:cNvSpPr/>
          <p:nvPr/>
        </p:nvSpPr>
        <p:spPr>
          <a:xfrm>
            <a:off x="4622929" y="5543806"/>
            <a:ext cx="805413" cy="304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D224C-B1F1-286A-43FF-A83EBD23FEE3}"/>
              </a:ext>
            </a:extLst>
          </p:cNvPr>
          <p:cNvSpPr/>
          <p:nvPr/>
        </p:nvSpPr>
        <p:spPr>
          <a:xfrm>
            <a:off x="6397235" y="4615541"/>
            <a:ext cx="1444236" cy="304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973E17-98CB-46F0-8511-87AD4BDA3ED4}"/>
              </a:ext>
            </a:extLst>
          </p:cNvPr>
          <p:cNvSpPr/>
          <p:nvPr/>
        </p:nvSpPr>
        <p:spPr>
          <a:xfrm>
            <a:off x="6404297" y="5543805"/>
            <a:ext cx="2405874" cy="304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07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52E93-2C6A-071B-88A4-E32D619E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 on Dielectrics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5B631-8904-4246-F4FF-327DC1531B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the similarity with the dielectric form of the ME</a:t>
                </a:r>
              </a:p>
              <a:p>
                <a:r>
                  <a:rPr lang="en-US" dirty="0"/>
                  <a:t>Specifically, compare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dirty="0"/>
                  <a:t> to the term: (1+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The EME can be rewritten in the familiar dielectric form: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5B631-8904-4246-F4FF-327DC1531B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5AE56B5-0ABC-4C24-50E0-20C1E661B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001294"/>
            <a:ext cx="7772400" cy="160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3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763C-CEF4-885F-DE61-32C1C3B5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Experiments: Weight Reduction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5D6CA-F694-32A5-9611-96B27F05E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Weight reduction can occur via two channels:</a:t>
                </a:r>
              </a:p>
              <a:p>
                <a:pPr lvl="1"/>
                <a:r>
                  <a:rPr lang="en-US" dirty="0"/>
                  <a:t>EME suggest opposing “Electric” components (thrust)</a:t>
                </a:r>
              </a:p>
              <a:p>
                <a:pPr lvl="1"/>
                <a:r>
                  <a:rPr lang="en-US" dirty="0"/>
                  <a:t>Higgs potential directly modified (weight reduction)</a:t>
                </a:r>
              </a:p>
              <a:p>
                <a:r>
                  <a:rPr lang="en-US" dirty="0"/>
                  <a:t>Note: EME multiplicative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small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5D6CA-F694-32A5-9611-96B27F05E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81227AD-2FE1-D6C1-6B9B-D1936BEA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497053"/>
            <a:ext cx="7772400" cy="14150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CE98E4-4ABE-3851-E291-3DCFA1EAB58D}"/>
              </a:ext>
            </a:extLst>
          </p:cNvPr>
          <p:cNvSpPr/>
          <p:nvPr/>
        </p:nvSpPr>
        <p:spPr>
          <a:xfrm>
            <a:off x="4256506" y="4615543"/>
            <a:ext cx="1444235" cy="3047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CFD368-36A6-5C45-CEF2-F604A7205A75}"/>
              </a:ext>
            </a:extLst>
          </p:cNvPr>
          <p:cNvSpPr/>
          <p:nvPr/>
        </p:nvSpPr>
        <p:spPr>
          <a:xfrm>
            <a:off x="6836229" y="4615541"/>
            <a:ext cx="1005242" cy="3047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4F0960-3365-46EB-C695-D59CE83FCD3D}"/>
              </a:ext>
            </a:extLst>
          </p:cNvPr>
          <p:cNvSpPr txBox="1"/>
          <p:nvPr/>
        </p:nvSpPr>
        <p:spPr>
          <a:xfrm>
            <a:off x="5328867" y="3883810"/>
            <a:ext cx="153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Forces oppose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DA7E63D6-5F12-1824-B1D5-18D44D02443F}"/>
              </a:ext>
            </a:extLst>
          </p:cNvPr>
          <p:cNvSpPr/>
          <p:nvPr/>
        </p:nvSpPr>
        <p:spPr>
          <a:xfrm rot="16200000">
            <a:off x="5978774" y="3224555"/>
            <a:ext cx="369332" cy="2369630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946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4481D-9A32-0E14-9158-67559D9E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Experiment: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CBC2E-9015-7838-3B81-B737BCACE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Electrogravitics</a:t>
            </a:r>
            <a:r>
              <a:rPr lang="en-US" dirty="0"/>
              <a:t> may weaken the lattice structure of a crystal</a:t>
            </a:r>
          </a:p>
          <a:p>
            <a:r>
              <a:rPr lang="en-US" dirty="0"/>
              <a:t>May also affect it at the atomic level via the strong force channel</a:t>
            </a:r>
          </a:p>
          <a:p>
            <a:r>
              <a:rPr lang="en-US" dirty="0"/>
              <a:t>Potential measurement options in specific crystals</a:t>
            </a:r>
          </a:p>
          <a:p>
            <a:pPr lvl="1"/>
            <a:r>
              <a:rPr lang="en-US" dirty="0"/>
              <a:t>Opacity</a:t>
            </a:r>
          </a:p>
          <a:p>
            <a:pPr lvl="1"/>
            <a:r>
              <a:rPr lang="en-US" dirty="0"/>
              <a:t>Modulating the frequency distribution of passing light</a:t>
            </a:r>
          </a:p>
          <a:p>
            <a:pPr lvl="1"/>
            <a:r>
              <a:rPr lang="en-US" dirty="0"/>
              <a:t>Modulating the refractive index of the material</a:t>
            </a:r>
          </a:p>
        </p:txBody>
      </p:sp>
    </p:spTree>
    <p:extLst>
      <p:ext uri="{BB962C8B-B14F-4D97-AF65-F5344CB8AC3E}">
        <p14:creationId xmlns:p14="http://schemas.microsoft.com/office/powerpoint/2010/main" val="415122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E930-39FF-8C4A-03EF-AC31D9E1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353797" cy="1325563"/>
          </a:xfrm>
        </p:spPr>
        <p:txBody>
          <a:bodyPr/>
          <a:lstStyle/>
          <a:p>
            <a:r>
              <a:rPr lang="en-US" dirty="0"/>
              <a:t>Exp. 1 – Weight Reduction – Direct Measurement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854F3C-AB60-E685-4EE7-1FC8EBFECD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47352" cy="4351338"/>
              </a:xfrm>
            </p:spPr>
            <p:txBody>
              <a:bodyPr/>
              <a:lstStyle/>
              <a:p>
                <a:r>
                  <a:rPr lang="en-US" dirty="0"/>
                  <a:t>Sample aligned flat</a:t>
                </a:r>
              </a:p>
              <a:p>
                <a:r>
                  <a:rPr lang="en-US" dirty="0"/>
                  <a:t>Voltage applied at the faces</a:t>
                </a:r>
              </a:p>
              <a:p>
                <a:r>
                  <a:rPr lang="en-US" dirty="0"/>
                  <a:t>Toggle frequency and voltage</a:t>
                </a:r>
              </a:p>
              <a:p>
                <a:r>
                  <a:rPr lang="en-US" dirty="0"/>
                  <a:t>EG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dirty="0"/>
                  <a:t> should be normal to the face on the (+) side</a:t>
                </a:r>
              </a:p>
              <a:p>
                <a:r>
                  <a:rPr lang="en-US" b="1" dirty="0"/>
                  <a:t>Measure the force directly with a scale: cross reference frequency and timestamps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854F3C-AB60-E685-4EE7-1FC8EBFECD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47352" cy="4351338"/>
              </a:xfrm>
              <a:blipFill>
                <a:blip r:embed="rId2"/>
                <a:stretch>
                  <a:fillRect l="-2406" t="-2326" r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be 3">
            <a:extLst>
              <a:ext uri="{FF2B5EF4-FFF2-40B4-BE49-F238E27FC236}">
                <a16:creationId xmlns:a16="http://schemas.microsoft.com/office/drawing/2014/main" id="{73A74710-9E0D-D9C1-8383-99A16052A26A}"/>
              </a:ext>
            </a:extLst>
          </p:cNvPr>
          <p:cNvSpPr/>
          <p:nvPr/>
        </p:nvSpPr>
        <p:spPr>
          <a:xfrm>
            <a:off x="6962660" y="4065224"/>
            <a:ext cx="4131326" cy="34152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DF43F-8E90-BD60-8C91-7A1AD16BAE6E}"/>
              </a:ext>
            </a:extLst>
          </p:cNvPr>
          <p:cNvSpPr txBox="1"/>
          <p:nvPr/>
        </p:nvSpPr>
        <p:spPr>
          <a:xfrm>
            <a:off x="8742025" y="3631962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(+V)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7A3D0-4A16-5882-1CA1-AE490BD3CA27}"/>
              </a:ext>
            </a:extLst>
          </p:cNvPr>
          <p:cNvSpPr txBox="1"/>
          <p:nvPr/>
        </p:nvSpPr>
        <p:spPr>
          <a:xfrm>
            <a:off x="8764468" y="4470677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(-V)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B6930C-C34B-20BD-2BFD-98A13B7D9CEC}"/>
              </a:ext>
            </a:extLst>
          </p:cNvPr>
          <p:cNvCxnSpPr/>
          <p:nvPr/>
        </p:nvCxnSpPr>
        <p:spPr>
          <a:xfrm flipV="1">
            <a:off x="9661793" y="2467778"/>
            <a:ext cx="0" cy="13881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3D5857-CBF7-0D45-0046-F9283070B741}"/>
                  </a:ext>
                </a:extLst>
              </p:cNvPr>
              <p:cNvSpPr txBox="1"/>
              <p:nvPr/>
            </p:nvSpPr>
            <p:spPr>
              <a:xfrm>
                <a:off x="9661793" y="2977175"/>
                <a:ext cx="446724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3D5857-CBF7-0D45-0046-F9283070B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1793" y="2977175"/>
                <a:ext cx="446724" cy="391902"/>
              </a:xfrm>
              <a:prstGeom prst="rect">
                <a:avLst/>
              </a:prstGeom>
              <a:blipFill>
                <a:blip r:embed="rId3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882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F94E-98DD-A1B7-2ABA-C9839D62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97928-A20F-5E79-FAED-B1C25B4D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Exp. 2 – Weight Reduction – Reflection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A0127E-0001-3B0F-853C-E2C39694C2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836877" cy="4351338"/>
              </a:xfrm>
            </p:spPr>
            <p:txBody>
              <a:bodyPr/>
              <a:lstStyle/>
              <a:p>
                <a:r>
                  <a:rPr lang="en-US" dirty="0"/>
                  <a:t>(Same configuration as Exp. 1)</a:t>
                </a:r>
              </a:p>
              <a:p>
                <a:r>
                  <a:rPr lang="en-US" dirty="0"/>
                  <a:t>Apply impulse voltage</a:t>
                </a:r>
              </a:p>
              <a:p>
                <a:r>
                  <a:rPr lang="en-US" b="1" dirty="0"/>
                  <a:t>Measure the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in a reflected laser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A0127E-0001-3B0F-853C-E2C39694C2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836877" cy="4351338"/>
              </a:xfrm>
              <a:blipFill>
                <a:blip r:embed="rId2"/>
                <a:stretch>
                  <a:fillRect l="-2094" t="-2326" r="-1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be 3">
            <a:extLst>
              <a:ext uri="{FF2B5EF4-FFF2-40B4-BE49-F238E27FC236}">
                <a16:creationId xmlns:a16="http://schemas.microsoft.com/office/drawing/2014/main" id="{0C1E0304-C71E-6C72-D8C9-8F6BF17C1046}"/>
              </a:ext>
            </a:extLst>
          </p:cNvPr>
          <p:cNvSpPr/>
          <p:nvPr/>
        </p:nvSpPr>
        <p:spPr>
          <a:xfrm>
            <a:off x="6962660" y="4065224"/>
            <a:ext cx="4131326" cy="34152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E48CE-DCAE-4C50-C48F-88404EC48DF2}"/>
              </a:ext>
            </a:extLst>
          </p:cNvPr>
          <p:cNvSpPr txBox="1"/>
          <p:nvPr/>
        </p:nvSpPr>
        <p:spPr>
          <a:xfrm>
            <a:off x="8742025" y="3631962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(+V)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AAACD-236D-A1E1-38B3-DF0036E9B979}"/>
              </a:ext>
            </a:extLst>
          </p:cNvPr>
          <p:cNvSpPr txBox="1"/>
          <p:nvPr/>
        </p:nvSpPr>
        <p:spPr>
          <a:xfrm>
            <a:off x="8764468" y="4470677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(-V)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A9EA88-E729-57F1-905D-7FFBF09DF533}"/>
              </a:ext>
            </a:extLst>
          </p:cNvPr>
          <p:cNvCxnSpPr>
            <a:cxnSpLocks/>
          </p:cNvCxnSpPr>
          <p:nvPr/>
        </p:nvCxnSpPr>
        <p:spPr>
          <a:xfrm>
            <a:off x="7204242" y="3169537"/>
            <a:ext cx="1824079" cy="7770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6A849A-BCCE-6678-76B9-F5BACCA1354A}"/>
              </a:ext>
            </a:extLst>
          </p:cNvPr>
          <p:cNvCxnSpPr>
            <a:cxnSpLocks/>
          </p:cNvCxnSpPr>
          <p:nvPr/>
        </p:nvCxnSpPr>
        <p:spPr>
          <a:xfrm flipV="1">
            <a:off x="9028321" y="2961670"/>
            <a:ext cx="2065665" cy="9919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27E0FF-2E8A-B866-67C6-FD73FCB1381C}"/>
              </a:ext>
            </a:extLst>
          </p:cNvPr>
          <p:cNvCxnSpPr>
            <a:cxnSpLocks/>
          </p:cNvCxnSpPr>
          <p:nvPr/>
        </p:nvCxnSpPr>
        <p:spPr>
          <a:xfrm flipV="1">
            <a:off x="9028321" y="3169537"/>
            <a:ext cx="2065665" cy="77709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6A51AF-59C5-DE00-FA99-7FC74C3778FD}"/>
                  </a:ext>
                </a:extLst>
              </p:cNvPr>
              <p:cNvSpPr txBox="1"/>
              <p:nvPr/>
            </p:nvSpPr>
            <p:spPr>
              <a:xfrm>
                <a:off x="11006902" y="2880938"/>
                <a:ext cx="5092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6A51AF-59C5-DE00-FA99-7FC74C377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902" y="2880938"/>
                <a:ext cx="509242" cy="369332"/>
              </a:xfrm>
              <a:prstGeom prst="rect">
                <a:avLst/>
              </a:prstGeom>
              <a:blipFill>
                <a:blip r:embed="rId3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312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85E9-AD99-A78D-B6D0-20B24706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E325-C717-32A7-6A3A-F0B5EB99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Exp. 3 – Structural Integrity – Refraction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4EC087-328E-6872-110E-E4DF2FE9C9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83687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Sample aligned flat or vertical depending on laser orientation</a:t>
                </a:r>
              </a:p>
              <a:p>
                <a:r>
                  <a:rPr lang="en-US" dirty="0"/>
                  <a:t>Voltage applied at the ends</a:t>
                </a:r>
              </a:p>
              <a:p>
                <a:r>
                  <a:rPr lang="en-US" dirty="0"/>
                  <a:t>Toggle frequency and voltage</a:t>
                </a:r>
              </a:p>
              <a:p>
                <a:r>
                  <a:rPr lang="en-US" b="1" dirty="0"/>
                  <a:t>Measure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Δx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in the refracted laser</a:t>
                </a:r>
              </a:p>
              <a:p>
                <a:r>
                  <a:rPr lang="en-US" b="1" dirty="0"/>
                  <a:t>Look for </a:t>
                </a:r>
                <a:r>
                  <a:rPr lang="en-US" b="1" dirty="0" err="1"/>
                  <a:t>birefraction</a:t>
                </a:r>
                <a:r>
                  <a:rPr lang="en-US" b="1" dirty="0"/>
                  <a:t> (measured in quasars)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4EC087-328E-6872-110E-E4DF2FE9C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836877" cy="4351338"/>
              </a:xfrm>
              <a:blipFill>
                <a:blip r:embed="rId2"/>
                <a:stretch>
                  <a:fillRect l="-2094" t="-2326" r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be 3">
            <a:extLst>
              <a:ext uri="{FF2B5EF4-FFF2-40B4-BE49-F238E27FC236}">
                <a16:creationId xmlns:a16="http://schemas.microsoft.com/office/drawing/2014/main" id="{F796A8E7-7AFD-326D-611A-BFB5D8D0B2E0}"/>
              </a:ext>
            </a:extLst>
          </p:cNvPr>
          <p:cNvSpPr/>
          <p:nvPr/>
        </p:nvSpPr>
        <p:spPr>
          <a:xfrm>
            <a:off x="6962660" y="4065224"/>
            <a:ext cx="4131326" cy="34152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D6FE0-E448-62C6-DD6E-B2AAF605D0F5}"/>
              </a:ext>
            </a:extLst>
          </p:cNvPr>
          <p:cNvSpPr txBox="1"/>
          <p:nvPr/>
        </p:nvSpPr>
        <p:spPr>
          <a:xfrm>
            <a:off x="11067503" y="4011159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sz="1400" dirty="0"/>
              <a:t>∓</a:t>
            </a:r>
            <a:r>
              <a:rPr lang="en-US" dirty="0"/>
              <a:t>V)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0C3FF-20C3-C1B9-CEBB-42C276B3AFB5}"/>
              </a:ext>
            </a:extLst>
          </p:cNvPr>
          <p:cNvSpPr txBox="1"/>
          <p:nvPr/>
        </p:nvSpPr>
        <p:spPr>
          <a:xfrm>
            <a:off x="6434951" y="406522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(± V)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642C7E-1A1C-297D-9D32-C0D6190613F1}"/>
              </a:ext>
            </a:extLst>
          </p:cNvPr>
          <p:cNvCxnSpPr>
            <a:cxnSpLocks/>
          </p:cNvCxnSpPr>
          <p:nvPr/>
        </p:nvCxnSpPr>
        <p:spPr>
          <a:xfrm>
            <a:off x="7460343" y="2569029"/>
            <a:ext cx="193314" cy="14322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6AE6E9-296C-3A64-78C1-D442D83F0B3A}"/>
              </a:ext>
            </a:extLst>
          </p:cNvPr>
          <p:cNvCxnSpPr>
            <a:cxnSpLocks/>
          </p:cNvCxnSpPr>
          <p:nvPr/>
        </p:nvCxnSpPr>
        <p:spPr>
          <a:xfrm>
            <a:off x="7653657" y="4434556"/>
            <a:ext cx="307394" cy="12115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88E8A4-16B4-3047-749A-56C3EA9ED43D}"/>
              </a:ext>
            </a:extLst>
          </p:cNvPr>
          <p:cNvCxnSpPr>
            <a:cxnSpLocks/>
          </p:cNvCxnSpPr>
          <p:nvPr/>
        </p:nvCxnSpPr>
        <p:spPr>
          <a:xfrm>
            <a:off x="7704233" y="4453769"/>
            <a:ext cx="593214" cy="11922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A8FB0C-0C4E-98D2-77B6-B9EBC6A8DF7E}"/>
                  </a:ext>
                </a:extLst>
              </p:cNvPr>
              <p:cNvSpPr txBox="1"/>
              <p:nvPr/>
            </p:nvSpPr>
            <p:spPr>
              <a:xfrm>
                <a:off x="7885432" y="5493899"/>
                <a:ext cx="487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A8FB0C-0C4E-98D2-77B6-B9EBC6A8D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432" y="5493899"/>
                <a:ext cx="4876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39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9F3A-F6E0-3287-D298-3442762C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F2196-FA4E-1B55-D11F-943FC056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Exp. 4,5 – Structural Integrity – Spectra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40A83-57A4-0309-EA04-B7A4D5E7E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836877" cy="4351338"/>
          </a:xfrm>
        </p:spPr>
        <p:txBody>
          <a:bodyPr>
            <a:normAutofit/>
          </a:bodyPr>
          <a:lstStyle/>
          <a:p>
            <a:r>
              <a:rPr lang="en-US" dirty="0"/>
              <a:t>(Same configuration as Exp. 3)</a:t>
            </a:r>
          </a:p>
          <a:p>
            <a:r>
              <a:rPr lang="en-US" b="1" dirty="0"/>
              <a:t>Measure deviation in the spectrum of white light</a:t>
            </a:r>
          </a:p>
          <a:p>
            <a:r>
              <a:rPr lang="en-US" b="1" dirty="0"/>
              <a:t>Measure deviation in the intensity of white light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3E0AF5E8-E07F-4DBB-8248-44AF1A44D5DF}"/>
              </a:ext>
            </a:extLst>
          </p:cNvPr>
          <p:cNvSpPr/>
          <p:nvPr/>
        </p:nvSpPr>
        <p:spPr>
          <a:xfrm>
            <a:off x="6962660" y="4065224"/>
            <a:ext cx="4131326" cy="34152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01D99-F7CF-1465-D58C-33E442ABCEB6}"/>
              </a:ext>
            </a:extLst>
          </p:cNvPr>
          <p:cNvSpPr txBox="1"/>
          <p:nvPr/>
        </p:nvSpPr>
        <p:spPr>
          <a:xfrm>
            <a:off x="11067503" y="4011159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sz="1400" dirty="0"/>
              <a:t>∓</a:t>
            </a:r>
            <a:r>
              <a:rPr lang="en-US" dirty="0"/>
              <a:t>V)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4B125-97E7-DC6A-EB67-69D1A9157855}"/>
              </a:ext>
            </a:extLst>
          </p:cNvPr>
          <p:cNvSpPr txBox="1"/>
          <p:nvPr/>
        </p:nvSpPr>
        <p:spPr>
          <a:xfrm>
            <a:off x="6434951" y="406522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(± V)</a:t>
            </a:r>
          </a:p>
        </p:txBody>
      </p:sp>
      <p:sp>
        <p:nvSpPr>
          <p:cNvPr id="7" name="Sun 6">
            <a:extLst>
              <a:ext uri="{FF2B5EF4-FFF2-40B4-BE49-F238E27FC236}">
                <a16:creationId xmlns:a16="http://schemas.microsoft.com/office/drawing/2014/main" id="{82EE03AB-BD7F-70CB-75FD-6F951038A2B5}"/>
              </a:ext>
            </a:extLst>
          </p:cNvPr>
          <p:cNvSpPr/>
          <p:nvPr/>
        </p:nvSpPr>
        <p:spPr>
          <a:xfrm>
            <a:off x="8779481" y="3194957"/>
            <a:ext cx="497683" cy="468086"/>
          </a:xfrm>
          <a:prstGeom prst="su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709474C-DB4B-BEB1-883F-86A145DD45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8021640"/>
              </p:ext>
            </p:extLst>
          </p:nvPr>
        </p:nvGraphicFramePr>
        <p:xfrm>
          <a:off x="5911908" y="5164109"/>
          <a:ext cx="2769862" cy="1536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2B5489BF-B7D4-8FB7-1A08-6C94AC8CEF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281666"/>
              </p:ext>
            </p:extLst>
          </p:nvPr>
        </p:nvGraphicFramePr>
        <p:xfrm>
          <a:off x="9093072" y="5164109"/>
          <a:ext cx="2769862" cy="1536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Down Arrow 17">
            <a:extLst>
              <a:ext uri="{FF2B5EF4-FFF2-40B4-BE49-F238E27FC236}">
                <a16:creationId xmlns:a16="http://schemas.microsoft.com/office/drawing/2014/main" id="{35F15C99-862E-3050-4866-EF1C85B5BD66}"/>
              </a:ext>
            </a:extLst>
          </p:cNvPr>
          <p:cNvSpPr/>
          <p:nvPr/>
        </p:nvSpPr>
        <p:spPr>
          <a:xfrm rot="16200000">
            <a:off x="8703773" y="5833767"/>
            <a:ext cx="429658" cy="4076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71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10DFA-55C3-558D-BEE1-3A3767F0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C65D25-6D03-9B46-7805-896CD2EB9F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natural frequency of the material should amplify effects</a:t>
                </a:r>
              </a:p>
              <a:p>
                <a:pPr lvl="1"/>
                <a:r>
                  <a:rPr lang="en-US" dirty="0"/>
                  <a:t>Can be calculated, but this requires detailed knowledge of the sample</a:t>
                </a:r>
              </a:p>
              <a:p>
                <a:pPr lvl="1"/>
                <a:r>
                  <a:rPr lang="en-US" dirty="0"/>
                  <a:t>Probably easier to establish experimentally</a:t>
                </a:r>
              </a:p>
              <a:p>
                <a:r>
                  <a:rPr lang="en-US" dirty="0"/>
                  <a:t>The literature suggests that weight reducing effects require high voltages (50,000V and higher), likely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extremely small</a:t>
                </a:r>
              </a:p>
              <a:p>
                <a:r>
                  <a:rPr lang="en-US" dirty="0"/>
                  <a:t>Experiments targeting magnetogravitic effects (due to the B-field components) are an </a:t>
                </a:r>
                <a:r>
                  <a:rPr lang="en-US"/>
                  <a:t>open question</a:t>
                </a:r>
                <a:endParaRPr lang="en-US" dirty="0"/>
              </a:p>
              <a:p>
                <a:pPr lvl="1"/>
                <a:r>
                  <a:rPr lang="en-US" dirty="0"/>
                  <a:t>Repeat high voltage experiments but with a strong magnet instead of a voltage generator?</a:t>
                </a:r>
              </a:p>
              <a:p>
                <a:r>
                  <a:rPr lang="en-US" b="1" dirty="0"/>
                  <a:t>Caution: Possible nonlinear effects between the gravitational and EM components may amplify effects (free energy).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C65D25-6D03-9B46-7805-896CD2EB9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075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525</Words>
  <Application>Microsoft Macintosh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Electrogravitics</vt:lpstr>
      <vt:lpstr>Background</vt:lpstr>
      <vt:lpstr>Experiments</vt:lpstr>
      <vt:lpstr>Side Note on Dielectrics</vt:lpstr>
      <vt:lpstr>Experiments: Weight Reduction</vt:lpstr>
      <vt:lpstr>Experiment: Structure</vt:lpstr>
      <vt:lpstr>Exp. 1 – Weight Reduction – Direct Measurement</vt:lpstr>
      <vt:lpstr>Exp. 2 – Weight Reduction – Reflection</vt:lpstr>
      <vt:lpstr>Exp. 3 – Structural Integrity – Refraction </vt:lpstr>
      <vt:lpstr>Exp. 4,5 – Structural Integrity – Spectra 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Kovach</dc:creator>
  <cp:lastModifiedBy>Daniel Kovach</cp:lastModifiedBy>
  <cp:revision>5</cp:revision>
  <dcterms:created xsi:type="dcterms:W3CDTF">2026-09-06T23:12:54Z</dcterms:created>
  <dcterms:modified xsi:type="dcterms:W3CDTF">2026-09-07T00:57:39Z</dcterms:modified>
</cp:coreProperties>
</file>